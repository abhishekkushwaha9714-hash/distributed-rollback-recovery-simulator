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109728" cy="2377440"/>
          </a:xfrm>
          <a:prstGeom prst="rect">
            <a:avLst/>
          </a:prstGeom>
          <a:solidFill>
            <a:srgbClr val="A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011680"/>
            <a:ext cx="100584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A8B4FF"/>
                </a:solidFill>
                <a:latin typeface="Calibri"/>
              </a:rPr>
              <a:t>Distributed Rollback Recovery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00400"/>
            <a:ext cx="10058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8A93C4"/>
                </a:solidFill>
                <a:latin typeface="Calibri"/>
              </a:rPr>
              <a:t>Visualizing Checkpointing, Consistent Global States &amp; Rollback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4389120"/>
            <a:ext cx="2743200" cy="5486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A8B4FF"/>
                </a:solidFill>
                <a:latin typeface="Calibri"/>
              </a:rPr>
              <a:t>Distributed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5486400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MCA SEM 1  |  Project TINY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E53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E53E5E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E6E9F5"/>
                </a:solidFill>
                <a:latin typeface="Calibri"/>
              </a:rPr>
              <a:t>In a distributed system, processes run independently and exchange messages. When a process fails, the system must roll back to a previous checkpoint to recover. But rolling back processes independently can leave the system in an INCONSISTENT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743200"/>
            <a:ext cx="10972800" cy="91440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0A830"/>
                </a:solidFill>
                <a:latin typeface="Calibri"/>
              </a:rPr>
              <a:t>❝ A message may appear to be RECEIVED but NEVER SENT — called an Orphan Message 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A8B4FF"/>
                </a:solidFill>
                <a:latin typeface="Calibri"/>
              </a:rPr>
              <a:t>Key Questions Addressed: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89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6E9F5"/>
                </a:solidFill>
                <a:latin typeface="Calibri"/>
              </a:rPr>
              <a:t>▸  How do we find a consistent global state after a failure?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6E9F5"/>
                </a:solidFill>
                <a:latin typeface="Calibri"/>
              </a:rPr>
              <a:t>▸  What is the recovery line — the safe point all processes can roll back to?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6E9F5"/>
                </a:solidFill>
                <a:latin typeface="Calibri"/>
              </a:rPr>
              <a:t>▸  How does uncoordinated checkpointing cause the Domino Effect?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E6E9F5"/>
                </a:solidFill>
                <a:latin typeface="Calibri"/>
              </a:rPr>
              <a:t>▸  How does coordinated checkpointing avoid cascading rollbacks?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38B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38B2AC"/>
                </a:solidFill>
                <a:latin typeface="Calibri"/>
              </a:rPr>
              <a:t>What is Rollback Recovery?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Checkpoint: A saved snapshot of a process's local state at a point in time.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When a process fails, it restarts from its most recent checkpoint instead of from scratch.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However, processes depend on each other through messages.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Rolling back one process may invalidate messages received by others.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Goal: Find a set of checkpoints (one per process) that forms a CONSISTENT GLOBAL STATE.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A consistent state has NO orphan messages — every received message was sent before the cut.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F0A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F0A830"/>
                </a:solidFill>
                <a:latin typeface="Calibri"/>
              </a:rPr>
              <a:t>Key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411480" cy="640080"/>
          </a:xfrm>
          <a:prstGeom prst="roundRect">
            <a:avLst/>
          </a:prstGeom>
          <a:solidFill>
            <a:srgbClr val="F0A830"/>
          </a:solidFill>
          <a:ln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0A830"/>
                </a:solidFill>
                <a:latin typeface="Calibri"/>
              </a:rP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A saved local state of a process. Shown as orange hexagons.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411480" cy="640080"/>
          </a:xfrm>
          <a:prstGeom prst="roundRect">
            <a:avLst/>
          </a:prstGeom>
          <a:solidFill>
            <a:srgbClr val="A8B4FF"/>
          </a:solidFill>
          <a:ln>
            <a:solidFill>
              <a:srgbClr val="A8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A8B4FF"/>
                </a:solidFill>
                <a:latin typeface="Calibri"/>
              </a:rPr>
              <a:t>Consistent Global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26079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A cut through all timelines with no orphan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66160"/>
            <a:ext cx="411480" cy="640080"/>
          </a:xfrm>
          <a:prstGeom prst="roundRect">
            <a:avLst/>
          </a:prstGeom>
          <a:solidFill>
            <a:srgbClr val="E53E5E"/>
          </a:solidFill>
          <a:ln>
            <a:solidFill>
              <a:srgbClr val="E5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E53E5E"/>
                </a:solidFill>
                <a:latin typeface="Calibri"/>
              </a:rPr>
              <a:t>Orphan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A message whose receive is in the cut but send is not.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411480" cy="64008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4ADE80"/>
                </a:solidFill>
                <a:latin typeface="Calibri"/>
              </a:rPr>
              <a:t>Recovery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3776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The most recent consistent set of checkpoints to roll back 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411480" cy="640080"/>
          </a:xfrm>
          <a:prstGeom prst="roundRect">
            <a:avLst/>
          </a:prstGeom>
          <a:solidFill>
            <a:srgbClr val="38B2AC"/>
          </a:solidFill>
          <a:ln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577840"/>
            <a:ext cx="103327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38B2AC"/>
                </a:solidFill>
                <a:latin typeface="Calibri"/>
              </a:rPr>
              <a:t>Domino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94360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Cascading rollbacks across processes due to uncoordinated checkpointing.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4ADE80"/>
                </a:solidFill>
                <a:latin typeface="Calibri"/>
              </a:rPr>
              <a:t>The Recovery Line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A8B4FF"/>
                </a:solidFill>
                <a:latin typeface="Calibri"/>
              </a:rPr>
              <a:t>Iterative Fixpoint Approach (Orphan-Message Elimination):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502920" cy="54864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220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40279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E6E9F5"/>
                </a:solidFill>
                <a:latin typeface="Calibri"/>
              </a:rPr>
              <a:t>Initialize: Set each process's frontier to its latest checkpoint.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39"/>
            <a:ext cx="502920" cy="54864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22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108959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E6E9F5"/>
                </a:solidFill>
                <a:latin typeface="Calibri"/>
              </a:rPr>
              <a:t>Scan all messages. For each message, check if it is an ORPHAN: the receive event is within the cut but the send event is NOT.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502920" cy="54864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220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977639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E6E9F5"/>
                </a:solidFill>
                <a:latin typeface="Calibri"/>
              </a:rPr>
              <a:t>If orphan found: Roll back the RECEIVING process to its checkpoint immediately BEFORE the receive event.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00600"/>
            <a:ext cx="502920" cy="54864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220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846320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E6E9F5"/>
                </a:solidFill>
                <a:latin typeface="Calibri"/>
              </a:rPr>
              <a:t>Repeat the scan until NO orphan messages remain.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669279"/>
            <a:ext cx="502920" cy="54864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F1220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714999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E6E9F5"/>
                </a:solidFill>
                <a:latin typeface="Calibri"/>
              </a:rPr>
              <a:t>The resulting frontier is the RECOVERY LINE — a consistent global 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A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A8B4FF"/>
                </a:solidFill>
                <a:latin typeface="Calibri"/>
              </a:rPr>
              <a:t>Simulator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664207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A8B4FF"/>
                </a:solidFill>
                <a:latin typeface="Calibri"/>
              </a:rPr>
              <a:t>Process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Add / remove distributed process timelines.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64207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0A830"/>
                </a:solidFill>
                <a:latin typeface="Calibri"/>
              </a:rPr>
              <a:t>Checkpointing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Take local checkpoints on any process.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39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172968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38B2AC"/>
                </a:solidFill>
                <a:latin typeface="Calibri"/>
              </a:rPr>
              <a:t>Message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66159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Send messages between processes with send/receive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39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72968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E53E5E"/>
                </a:solidFill>
                <a:latin typeface="Calibri"/>
              </a:rPr>
              <a:t>Failure Simulation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66159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Mark any process as failed at any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681728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4ADE80"/>
                </a:solidFill>
                <a:latin typeface="Calibri"/>
              </a:rPr>
              <a:t>Recovery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5074920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One-click computation of the consistent global state.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681728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A8B4FF"/>
                </a:solidFill>
                <a:latin typeface="Calibri"/>
              </a:rPr>
              <a:t>Two Demos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074920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Domino Effect (uncoordinated) &amp; Coordinated Recovery.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080759"/>
            <a:ext cx="5303520" cy="123444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6190488"/>
            <a:ext cx="4937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8A93C4"/>
                </a:solidFill>
                <a:latin typeface="Calibri"/>
              </a:rPr>
              <a:t>Event 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6583679"/>
            <a:ext cx="493776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8A93C4"/>
                </a:solidFill>
                <a:latin typeface="Calibri"/>
              </a:rPr>
              <a:t>Color-coded log narrating every rollback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E53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E53E5E"/>
                </a:solidFill>
                <a:latin typeface="Calibri"/>
              </a:rPr>
              <a:t>Demo 1: The Domino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6E9F5"/>
                </a:solidFill>
                <a:latin typeface="Calibri"/>
              </a:rPr>
              <a:t>Scenario: 3 processes (P0, P1, P2) with UNCOORDINATED checkpoints forming a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972800" cy="64008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A830"/>
                </a:solidFill>
                <a:latin typeface="Calibri"/>
              </a:rPr>
              <a:t>P0 → P1 (m1)  →  P1 → P2 (m2)  →  P2 → P0 (m3)   [checkpoints taken independently]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A8B4FF"/>
                </a:solidFill>
                <a:latin typeface="Calibri"/>
              </a:rPr>
              <a:t>When P2 fails, the recovery triggers a CASCADE: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83280"/>
            <a:ext cx="2286000" cy="548640"/>
          </a:xfrm>
          <a:prstGeom prst="roundRect">
            <a:avLst/>
          </a:prstGeom>
          <a:solidFill>
            <a:srgbClr val="E53E5E"/>
          </a:solidFill>
          <a:ln>
            <a:solidFill>
              <a:srgbClr val="E5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E9F5"/>
                </a:solidFill>
                <a:latin typeface="Calibri"/>
              </a:rPr>
              <a:t>P2 rolls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3456432"/>
            <a:ext cx="8503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E6E9F5"/>
                </a:solidFill>
                <a:latin typeface="Calibri"/>
              </a:rPr>
              <a:t>orphan message m2 — its send (from P1) is not in the cut.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2286000" cy="548640"/>
          </a:xfrm>
          <a:prstGeom prst="roundRect">
            <a:avLst/>
          </a:prstGeom>
          <a:solidFill>
            <a:srgbClr val="E53E5E"/>
          </a:solidFill>
          <a:ln>
            <a:solidFill>
              <a:srgbClr val="E5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E9F5"/>
                </a:solidFill>
                <a:latin typeface="Calibri"/>
              </a:rPr>
              <a:t>P0 rolls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4233672"/>
            <a:ext cx="8503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E6E9F5"/>
                </a:solidFill>
                <a:latin typeface="Calibri"/>
              </a:rPr>
              <a:t>orphan message m3 — its send (from P2) is not in the cut.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37760"/>
            <a:ext cx="2286000" cy="548640"/>
          </a:xfrm>
          <a:prstGeom prst="roundRect">
            <a:avLst/>
          </a:prstGeom>
          <a:solidFill>
            <a:srgbClr val="E53E5E"/>
          </a:solidFill>
          <a:ln>
            <a:solidFill>
              <a:srgbClr val="E5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6E9F5"/>
                </a:solidFill>
                <a:latin typeface="Calibri"/>
              </a:rPr>
              <a:t>P1 rolls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010912"/>
            <a:ext cx="8503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E6E9F5"/>
                </a:solidFill>
                <a:latin typeface="Calibri"/>
              </a:rPr>
              <a:t>orphan message m1 — its send (from P0) is not in the cut.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852160"/>
            <a:ext cx="10972800" cy="640080"/>
          </a:xfrm>
          <a:prstGeom prst="roundRect">
            <a:avLst/>
          </a:prstGeom>
          <a:solidFill>
            <a:srgbClr val="E53E5E"/>
          </a:solidFill>
          <a:ln>
            <a:solidFill>
              <a:srgbClr val="E5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6E9F5"/>
                </a:solidFill>
                <a:latin typeface="Calibri"/>
              </a:rPr>
              <a:t>Result: All processes roll back to the very beginning — total loss of work!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4ADE80"/>
                </a:solidFill>
                <a:latin typeface="Calibri"/>
              </a:rPr>
              <a:t>Demo 2: Coordinated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6E9F5"/>
                </a:solidFill>
                <a:latin typeface="Calibri"/>
              </a:rPr>
              <a:t>Scenario: 2 processes that checkpoint CONSISTENTLY (both checkpoint before &amp; after messaging).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972800" cy="640080"/>
          </a:xfrm>
          <a:prstGeom prst="roundRect">
            <a:avLst/>
          </a:prstGeom>
          <a:solidFill>
            <a:srgbClr val="181C33"/>
          </a:solidFill>
          <a:ln>
            <a:solidFill>
              <a:srgbClr val="181C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0A830"/>
                </a:solidFill>
                <a:latin typeface="Calibri"/>
              </a:rPr>
              <a:t>[P0 cp] [P1 cp]  →  P0↔P1 messages  →  [P0 cp] [P1 cp]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Both processes take checkpoints at coordinated points.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No message crosses a checkpoint boundary inconsistently.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When P1 fails, the recovery line check finds ZERO orphan messages.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E6E9F5"/>
                </a:solidFill>
                <a:latin typeface="Calibri"/>
              </a:rPr>
              <a:t>▸  No rollbacks needed — recovery is instant and minimal.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69280"/>
            <a:ext cx="10972800" cy="82296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E6E9F5"/>
                </a:solidFill>
                <a:latin typeface="Calibri"/>
              </a:rPr>
              <a:t>Result: 0 rollbacks — Coordinated checkpointing eliminates the Domino Effect!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A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A8B4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2743200" cy="822960"/>
          </a:xfrm>
          <a:prstGeom prst="roundRect">
            <a:avLst/>
          </a:prstGeom>
          <a:solidFill>
            <a:srgbClr val="F0A830"/>
          </a:solidFill>
          <a:ln>
            <a:solidFill>
              <a:srgbClr val="F0A8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220"/>
                </a:solidFill>
                <a:latin typeface="Calibri"/>
              </a:rPr>
              <a:t>HTML5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828800"/>
            <a:ext cx="79552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6E9F5"/>
                </a:solidFill>
                <a:latin typeface="Calibri"/>
              </a:rPr>
              <a:t>Page structure &amp;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743200" cy="822960"/>
          </a:xfrm>
          <a:prstGeom prst="roundRect">
            <a:avLst/>
          </a:prstGeom>
          <a:solidFill>
            <a:srgbClr val="38B2AC"/>
          </a:solidFill>
          <a:ln>
            <a:solidFill>
              <a:srgbClr val="38B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220"/>
                </a:solidFill>
                <a:latin typeface="Calibri"/>
              </a:rPr>
              <a:t>CSS3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926080"/>
            <a:ext cx="79552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6E9F5"/>
                </a:solidFill>
                <a:latin typeface="Calibri"/>
              </a:rPr>
              <a:t>Dark-themed responsive styling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2743200" cy="822960"/>
          </a:xfrm>
          <a:prstGeom prst="roundRect">
            <a:avLst/>
          </a:prstGeom>
          <a:solidFill>
            <a:srgbClr val="A8B4FF"/>
          </a:solidFill>
          <a:ln>
            <a:solidFill>
              <a:srgbClr val="A8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220"/>
                </a:solidFill>
                <a:latin typeface="Calibri"/>
              </a:rPr>
              <a:t>JavaScript (ES6)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023360"/>
            <a:ext cx="79552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6E9F5"/>
                </a:solidFill>
                <a:latin typeface="Calibri"/>
              </a:rPr>
              <a:t>Simulation engine, recovery algorithm, Canvas rendering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59"/>
            <a:ext cx="2743200" cy="822960"/>
          </a:xfrm>
          <a:prstGeom prst="roundRect">
            <a:avLst/>
          </a:prstGeom>
          <a:solidFill>
            <a:srgbClr val="E53E5E"/>
          </a:solidFill>
          <a:ln>
            <a:solidFill>
              <a:srgbClr val="E53E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F1220"/>
                </a:solidFill>
                <a:latin typeface="Calibri"/>
              </a:rPr>
              <a:t>HTML5 Canvas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120640"/>
            <a:ext cx="7955279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E6E9F5"/>
                </a:solidFill>
                <a:latin typeface="Calibri"/>
              </a:rPr>
              <a:t>Visual rendering of process timelines, events, messages &amp; recovery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8A93C4"/>
                </a:solidFill>
                <a:latin typeface="Calibri"/>
              </a:rPr>
              <a:t>No external libraries or frameworks — pure vanilla implementation.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09728" cy="822960"/>
          </a:xfrm>
          <a:prstGeom prst="rect">
            <a:avLst/>
          </a:prstGeom>
          <a:solidFill>
            <a:srgbClr val="A8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A8B4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4ADE80"/>
                </a:solidFill>
                <a:latin typeface="Calibri"/>
              </a:rPr>
              <a:t>Conclusion: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The simulator visually demonstrates the core challenge of distributed rollback recovery.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It clearly contrasts uncoordinated (domino effect) vs coordinated (minimal rollback) checkpointing.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The recovery line algorithm correctly finds a consistent global state using orphan-message elimination.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0A830"/>
                </a:solidFill>
                <a:latin typeface="Calibri"/>
              </a:rPr>
              <a:t>Future Work: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Implement message logging (sender-based / receiver-based) for optimistic recovery.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Add step-by-step animation of each rollback iteration.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Support for concurrent checkpointing algorithms (Chandy-Lamport snapshot).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E6E9F5"/>
                </a:solidFill>
                <a:latin typeface="Calibri"/>
              </a:rPr>
              <a:t>▸  Export / import simulation scenarios.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1">
                <a:solidFill>
                  <a:srgbClr val="A8B4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8A93C4"/>
                </a:solidFill>
                <a:latin typeface="Calibri"/>
              </a:rPr>
              <a:t>Distributed Rollback Recovery 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>
                <a:solidFill>
                  <a:srgbClr val="38B2AC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